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75" r:id="rId8"/>
    <p:sldId id="262" r:id="rId9"/>
    <p:sldId id="263" r:id="rId10"/>
    <p:sldId id="264" r:id="rId11"/>
    <p:sldId id="266" r:id="rId12"/>
    <p:sldId id="269" r:id="rId13"/>
    <p:sldId id="267" r:id="rId14"/>
    <p:sldId id="268" r:id="rId15"/>
    <p:sldId id="271" r:id="rId16"/>
    <p:sldId id="270" r:id="rId17"/>
    <p:sldId id="265" r:id="rId18"/>
  </p:sldIdLst>
  <p:sldSz cx="18288000" cy="10287000"/>
  <p:notesSz cx="6858000" cy="9144000"/>
  <p:embeddedFontLst>
    <p:embeddedFont>
      <p:font typeface="Bookman Old Style" panose="02050604050505020204" pitchFamily="18" charset="0"/>
      <p:regular r:id="rId20"/>
      <p:bold r:id="rId21"/>
      <p:italic r:id="rId22"/>
      <p:boldItalic r:id="rId23"/>
    </p:embeddedFont>
    <p:embeddedFont>
      <p:font typeface="Cambria" panose="02040503050406030204" pitchFamily="18" charset="0"/>
      <p:regular r:id="rId24"/>
      <p:bold r:id="rId25"/>
      <p:italic r:id="rId26"/>
      <p:boldItalic r:id="rId27"/>
    </p:embeddedFont>
    <p:embeddedFont>
      <p:font typeface="Gotham" panose="020B0604020202020204" charset="0"/>
      <p:regular r:id="rId28"/>
      <p:bold r:id="rId29"/>
      <p:italic r:id="rId30"/>
      <p:boldItalic r:id="rId31"/>
    </p:embeddedFont>
    <p:embeddedFont>
      <p:font typeface="Gotham Bold Italics" panose="020B0604020202020204" charset="0"/>
      <p:regular r:id="rId28"/>
      <p:bold r:id="rId28"/>
      <p:italic r:id="rId32"/>
      <p:boldItalic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884" autoAdjust="0"/>
    <p:restoredTop sz="94635" autoAdjust="0"/>
  </p:normalViewPr>
  <p:slideViewPr>
    <p:cSldViewPr>
      <p:cViewPr varScale="1">
        <p:scale>
          <a:sx n="38" d="100"/>
          <a:sy n="38" d="100"/>
        </p:scale>
        <p:origin x="108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21" Type="http://schemas.openxmlformats.org/officeDocument/2006/relationships/font" Target="fonts/font2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7A2845-04C1-B844-ADAD-D2B7E6B10DA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A7F017-E2A4-1F44-B443-2B0FA90EE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597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940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9745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DA23D-E090-D0E9-C8A5-C4AD1E142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50A00A-5F29-3E26-1E8F-276D8E48B5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AD3AE1-C544-FE4C-F43C-8879A3BC9E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593763-2CFF-A774-E4C4-A4783F3A28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526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2452725" y="-4705505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8432199" y="-239020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2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22-04-2026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201465" y="5960505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 PORTAL MANAGEMENT SYSTEM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1028700" y="7818586"/>
            <a:ext cx="9067800" cy="1391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    Presented By: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A.Kaif</a:t>
            </a:r>
            <a:r>
              <a:rPr lang="en-US" sz="30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– VTU25108– 23UECS0647</a:t>
            </a:r>
            <a:endParaRPr lang="en-IN" sz="30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9961671" y="7818586"/>
            <a:ext cx="7897968" cy="1997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 Courses Handling Faculty: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                         Dr. HEMAMALINI</a:t>
            </a:r>
          </a:p>
          <a:p>
            <a:pPr>
              <a:lnSpc>
                <a:spcPct val="150000"/>
              </a:lnSpc>
            </a:pPr>
            <a:r>
              <a:rPr lang="en-US" sz="2800">
                <a:latin typeface="Cambria" panose="02040503050406030204" pitchFamily="18" charset="0"/>
                <a:ea typeface="Cambria" panose="02040503050406030204" pitchFamily="18" charset="0"/>
              </a:rPr>
              <a:t>                Assistance 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Professor(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Sr.Grade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endParaRPr lang="en-IN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9 – Industry, Innovation and Infrastructure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50103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1981200" y="1466182"/>
            <a:ext cx="15082325" cy="12649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Job Portal Management System is a web-based application designed to connect job seekers and employers on a single platform.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provides an easy-to-use interface where users can search, view, and apply for jobs online from anywhere.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Employers can post job vacancies with details such as skills, experience, and salary, and manage applicants efficiently.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helps students and job seekers create professional profiles and upload their resumes for better visibility.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reduces the manual effort involved in traditional job searching and recruitment processes.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Users can filter and search jobs based on category, location, skills, and experience level.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maintains application status and provides real-time notifications to users.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enhances communication between job seekers and employers through automated updates and alerts.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ensures secure login with role-based access control (Student, Employer, Admin).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Overall, it simplifies, organizes, and digitalizes the recruitment process for better efficiency.</a:t>
            </a:r>
          </a:p>
          <a:p>
            <a:pPr marL="457200" indent="-457200">
              <a:buFontTx/>
              <a:buChar char="-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C6B3991-F175-960C-03ED-447F68E529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176975" y="2088140"/>
            <a:ext cx="15082325" cy="1172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Job recruitment processes are often manual, unorganized, and time-consuming, leading to delays in hiring.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Job seekers need to visit multiple platforms and websites to find suitable job opportunities, which is inefficient.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There is no proper system available to track job applications and monitor their current status.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Employers struggle to manage and organize large numbers of applicants effectively.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Lack of a centralized database leads to data mismanagement and difficulty in accessing information.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is difficult to filter candidates based on required skills, qualifications, and experience.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There is no proper communication system between job seekers and employers for updates and notifications.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There is a high risk of duplicate applications or missing application records in manual systems.</a:t>
            </a:r>
          </a:p>
          <a:p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149761" y="1922255"/>
            <a:ext cx="15082325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develop a web-based Job Portal Management System that connects job seekers and employers on a single platform.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simplify and automate the recruitment process with features like job posting, job search, application tracking, and secure access.</a:t>
            </a:r>
          </a:p>
          <a:p>
            <a:pPr marL="457200" indent="-457200">
              <a:buFontTx/>
              <a:buChar char="-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1794863" y="2309629"/>
            <a:ext cx="15082325" cy="9633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a web-based Academic Campus Event &amp; Registration Portal.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students to securely register and log in to view available events.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register for events with duplicate prevention and deadline validation.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can log in separately to manage and monitor all event registrations.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automatically stores and manages data in a centralized database.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registration reports are generated for both students and admin.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portal improves transparency and reduces manual errors.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secure, efficient, and organized event management.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0244631" y="-2237175"/>
            <a:ext cx="11732787" cy="12976558"/>
            <a:chOff x="76200" y="47625"/>
            <a:chExt cx="867386" cy="959336"/>
          </a:xfrm>
        </p:grpSpPr>
        <p:sp>
          <p:nvSpPr>
            <p:cNvPr id="38" name="Freeform 38"/>
            <p:cNvSpPr/>
            <p:nvPr/>
          </p:nvSpPr>
          <p:spPr>
            <a:xfrm>
              <a:off x="130786" y="194161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5010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176975" y="1181100"/>
            <a:ext cx="15082325" cy="10864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AutoShape 2" descr="Generated image">
            <a:extLst>
              <a:ext uri="{FF2B5EF4-FFF2-40B4-BE49-F238E27FC236}">
                <a16:creationId xmlns:a16="http://schemas.microsoft.com/office/drawing/2014/main" id="{16E457E7-6CC0-C725-E8E8-35EC0C0A07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41C82A-3AE1-8214-C930-CFAEBF0C7E4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76" b="411"/>
          <a:stretch>
            <a:fillRect/>
          </a:stretch>
        </p:blipFill>
        <p:spPr>
          <a:xfrm>
            <a:off x="3951688" y="1592786"/>
            <a:ext cx="11055989" cy="792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120BBE-D4AE-FD0D-8513-0C9EDAABA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65FCDA2F-6EEE-F6C2-CC63-A61A668A669C}"/>
              </a:ext>
            </a:extLst>
          </p:cNvPr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E537568-0DDA-9F70-0404-7CD901B3586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76EED94-8DC2-AB57-EB1F-C89546181F9D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0C8074C1-B01B-C07A-6EDA-30BB005A0293}"/>
              </a:ext>
            </a:extLst>
          </p:cNvPr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B0FA6438-64BE-5725-3513-D92D4BE594E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F66AA46D-E494-5E76-556E-6E1A9BF4260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87723B3F-5335-E2DB-02F8-B61BB91E1DD1}"/>
              </a:ext>
            </a:extLst>
          </p:cNvPr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08A211E7-0426-BCA1-2C39-2EDEAA3D7C1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93DFE801-E11C-63ED-631A-B9E88C2D06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FE7E3F35-5FF5-36D3-A89C-173EDBDDB762}"/>
              </a:ext>
            </a:extLst>
          </p:cNvPr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AA02A412-39D3-47B6-721F-2CFED26C2FE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7A9A639-BB68-1857-4DE9-200267BFBA2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8B0D992F-4FCD-83E3-FD6E-4F4B74D953E0}"/>
              </a:ext>
            </a:extLst>
          </p:cNvPr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F31A660E-B956-686A-D943-A35AE5624B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C8A63C00-B485-59B8-F20A-B2526C63CCD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6F6B78CA-3BE9-CC9C-BFAD-162A3AFFFEA1}"/>
              </a:ext>
            </a:extLst>
          </p:cNvPr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3D39F65A-B918-B747-C6C6-49970F4FEC7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0ADF056-4B48-2785-B93A-57BB5583CCF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27830DC6-27C1-0B67-328D-0FA1E0D66515}"/>
              </a:ext>
            </a:extLst>
          </p:cNvPr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9FCF4ED1-C99E-F706-FA0F-608803A2C24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C63080DD-71BF-762C-8640-A9ECFBE696E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B3D72F49-9BD5-3691-737C-DD82CFD704A5}"/>
              </a:ext>
            </a:extLst>
          </p:cNvPr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77B05D06-A5BA-F7A2-DD00-8A9D63A1F2E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6A2CF642-5BEF-199C-3B9F-A278F22973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0DC34337-8CBA-46A1-5D63-DE1711C089EE}"/>
              </a:ext>
            </a:extLst>
          </p:cNvPr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00E01612-CF4E-2538-55E7-C121C491F69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09B5C74-96D4-DC02-41A0-2C5C141D990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>
            <a:extLst>
              <a:ext uri="{FF2B5EF4-FFF2-40B4-BE49-F238E27FC236}">
                <a16:creationId xmlns:a16="http://schemas.microsoft.com/office/drawing/2014/main" id="{A8C66314-1914-D8A0-5244-F8A119793BF2}"/>
              </a:ext>
            </a:extLst>
          </p:cNvPr>
          <p:cNvGrpSpPr/>
          <p:nvPr/>
        </p:nvGrpSpPr>
        <p:grpSpPr>
          <a:xfrm>
            <a:off x="11046426" y="-345215"/>
            <a:ext cx="10994424" cy="10994424"/>
            <a:chOff x="0" y="0"/>
            <a:chExt cx="812800" cy="812800"/>
          </a:xfrm>
        </p:grpSpPr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362D80A8-2C6F-0D13-9E38-3B1DF35737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>
              <a:extLst>
                <a:ext uri="{FF2B5EF4-FFF2-40B4-BE49-F238E27FC236}">
                  <a16:creationId xmlns:a16="http://schemas.microsoft.com/office/drawing/2014/main" id="{437FC99C-9411-FE63-E1EE-FC6A77887487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5974823D-264D-3302-0919-90A92F55C1E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B77069B-D36B-A183-A0E7-5BC3AB846622}"/>
              </a:ext>
            </a:extLst>
          </p:cNvPr>
          <p:cNvSpPr txBox="1"/>
          <p:nvPr/>
        </p:nvSpPr>
        <p:spPr>
          <a:xfrm>
            <a:off x="152400" y="35010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3A127B1-4DC4-DAFB-AF0D-38FE009AEA5E}"/>
              </a:ext>
            </a:extLst>
          </p:cNvPr>
          <p:cNvSpPr txBox="1"/>
          <p:nvPr/>
        </p:nvSpPr>
        <p:spPr>
          <a:xfrm>
            <a:off x="2176975" y="1181100"/>
            <a:ext cx="15082325" cy="11003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Input: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User registration details, login credentials, job postings, resume uploads, and job applications.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User authentication, job search and filtering, application submission, validation, and status tracking.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Stores user details, employer details, job listings, applications, and resume files.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Job listings, application status updates, notifications, user dashboard, and employer reports.</a:t>
            </a:r>
          </a:p>
          <a:p>
            <a:pPr marL="457200" indent="-457200">
              <a:buFontTx/>
              <a:buChar char="-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AutoShape 2" descr="Generated image">
            <a:extLst>
              <a:ext uri="{FF2B5EF4-FFF2-40B4-BE49-F238E27FC236}">
                <a16:creationId xmlns:a16="http://schemas.microsoft.com/office/drawing/2014/main" id="{BEB47EAC-0F91-AE02-4A84-64D6ECC5FF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335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B70045-5DFF-1322-8555-9B98CA3587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056" t="-13516" r="3056" b="12884"/>
          <a:stretch>
            <a:fillRect/>
          </a:stretch>
        </p:blipFill>
        <p:spPr>
          <a:xfrm>
            <a:off x="4866851" y="361348"/>
            <a:ext cx="8536914" cy="9784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1981200" y="2040097"/>
            <a:ext cx="15082325" cy="1215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HTML, CSS,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Java, Spring Boot, Spring MVC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MySQL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Visual Studio Code, MySQL Workbench, Spring Initializer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Hardware/Software Requirements: 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System with minimum 4GB RAM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JDK 8 or above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Spring Boot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MySQL Server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Web Browser (Chrome)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/>
          <p:cNvGrpSpPr/>
          <p:nvPr/>
        </p:nvGrpSpPr>
        <p:grpSpPr>
          <a:xfrm>
            <a:off x="14249400" y="-145462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27934" y="1771084"/>
            <a:ext cx="15082325" cy="86485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/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Job Seeker (User) Module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user registration, login, profile creation, resume upload, job search, and applying for jobs.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Employer Module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employer login, posting job vacancies, managing job listings, and viewing applicants.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 3: Job Management Module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job details, job updates, filtering, searching, and deletion of job postings.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Application Management Module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job applications, application tracking, status updates, and shortlist/reject process.</a:t>
            </a:r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 Notification Module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email notifications and alerts for job applications, status updates, and job postings.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4275A1-13FA-B24A-438D-77EB2A87B09F}"/>
              </a:ext>
            </a:extLst>
          </p:cNvPr>
          <p:cNvSpPr txBox="1"/>
          <p:nvPr/>
        </p:nvSpPr>
        <p:spPr>
          <a:xfrm>
            <a:off x="7696200" y="1372210"/>
            <a:ext cx="47570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PAGE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1F7B352-25F0-36AE-794E-B41AB4C5DCC8}"/>
              </a:ext>
            </a:extLst>
          </p:cNvPr>
          <p:cNvSpPr txBox="1"/>
          <p:nvPr/>
        </p:nvSpPr>
        <p:spPr>
          <a:xfrm>
            <a:off x="1905001" y="7930502"/>
            <a:ext cx="15697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This is the main entry page of the Job Portal where users can navigate to login or sign up.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provides an overview of the platform and allows users to explore job opportunities or get started.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C2408E-E7CC-3E92-35BA-19AAAA7446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0887" y="2216854"/>
            <a:ext cx="11406226" cy="5298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7366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4B656C-F43C-A151-4566-7E0B3BBECF45}"/>
              </a:ext>
            </a:extLst>
          </p:cNvPr>
          <p:cNvSpPr txBox="1"/>
          <p:nvPr/>
        </p:nvSpPr>
        <p:spPr>
          <a:xfrm>
            <a:off x="6356023" y="1369134"/>
            <a:ext cx="47718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PAGE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0A1E25-03A2-030F-B662-D986C4F0FAEF}"/>
              </a:ext>
            </a:extLst>
          </p:cNvPr>
          <p:cNvSpPr txBox="1"/>
          <p:nvPr/>
        </p:nvSpPr>
        <p:spPr>
          <a:xfrm>
            <a:off x="3831455" y="6897565"/>
            <a:ext cx="1372095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page allows users or employer to create a new account by entering details like name, email, and password.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ensures secure user or employer registration and provides access to the job portal features after successful signup.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70AE182F-1B88-845A-E771-0E0DB22D9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4902" y="2011982"/>
            <a:ext cx="10241995" cy="4788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F4BEB7-42CD-115A-E499-D08EC2B51735}"/>
              </a:ext>
            </a:extLst>
          </p:cNvPr>
          <p:cNvSpPr txBox="1"/>
          <p:nvPr/>
        </p:nvSpPr>
        <p:spPr>
          <a:xfrm>
            <a:off x="7606006" y="1214838"/>
            <a:ext cx="28994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PAGE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D8491B-92E9-5A7F-1666-190C36EBD9A8}"/>
              </a:ext>
            </a:extLst>
          </p:cNvPr>
          <p:cNvSpPr txBox="1"/>
          <p:nvPr/>
        </p:nvSpPr>
        <p:spPr>
          <a:xfrm>
            <a:off x="3197778" y="7227433"/>
            <a:ext cx="142615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page allows registered users or employers to log in using their email and password.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provides secure access to the system and redirects users to their respective dashboards after successful login.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61EA2E-D458-388D-626B-62B5A05590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982349"/>
            <a:ext cx="10858195" cy="501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EA5319-0B33-07AE-8C86-82D029FBFC53}"/>
              </a:ext>
            </a:extLst>
          </p:cNvPr>
          <p:cNvSpPr txBox="1"/>
          <p:nvPr/>
        </p:nvSpPr>
        <p:spPr>
          <a:xfrm>
            <a:off x="5614848" y="1275323"/>
            <a:ext cx="69518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EMPLOYER JOB POSTING PAGE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F26A9F-DD99-C913-ADE0-2182717D1411}"/>
              </a:ext>
            </a:extLst>
          </p:cNvPr>
          <p:cNvSpPr txBox="1"/>
          <p:nvPr/>
        </p:nvSpPr>
        <p:spPr>
          <a:xfrm>
            <a:off x="3225211" y="7246464"/>
            <a:ext cx="139454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page allows employers to create and post new job vacancies by entering details like title, description, skills, and salary.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helps employers manage job listings and attract suitable candidates for recruitment.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E9098F-CF08-B87F-84D6-9706089ACE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0496" y="2038577"/>
            <a:ext cx="10580541" cy="493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B2C194-8054-109A-8EE3-412E3D9CE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B62333FF-55BC-62B6-6371-72B5C2F6877E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DB43F7D-E99A-3082-52B3-13374FCCFB7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5755CCA-C0C8-F17B-1E8A-5783EE770ECE}"/>
                </a:ext>
              </a:extLst>
            </p:cNvPr>
            <p:cNvSpPr txBox="1"/>
            <p:nvPr/>
          </p:nvSpPr>
          <p:spPr>
            <a:xfrm>
              <a:off x="76200" y="19050"/>
              <a:ext cx="7366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8(D)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ADC2F419-E154-8127-7A7E-D8125C33557F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36DFFE20-D36C-2238-3895-F042C5F122E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838C3A07-5BCD-6F99-A8C2-0535B5F0FE9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163CF137-14A1-3B14-93D5-D3880857F651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E25856C5-81A8-B2B7-FDD4-B9AD83C568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B44EBA42-79B6-A479-9F7B-F8268D5AEBF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0DCCF08-90C9-C9DB-A6F4-7236C9C408E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5AE877C9-EA89-BF91-9743-BF6642CAB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B78E3713-142F-9F58-D2E8-7BFCA6BAF2E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12060018-1208-5D33-0A79-10CEE5A7CE57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5F84339-96B0-C013-5C8D-0FBD8E81DB3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3B13E3A3-ED77-5B21-0638-992D305083C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165E30-3AFD-0F72-1794-505AD16C208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5558CF-9250-2654-1B48-F50107DB4F5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9C85B1B0-E1B8-397A-3581-77F3E7E2F84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02AE1FF7-1D7B-7255-81F8-5827F54C5731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37DF40B-8FED-0A39-D2E5-C17EEE20EA2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5601843-65BA-09E6-9884-DB02F3560BF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5BCB3D17-FBDC-1F95-4331-222DFD2BB0D2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28CDA1DE-7D96-1352-7D39-D7207F22D73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3A5E5D0-9CCB-9151-1B11-49167FE6F8C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5317B326-9BC1-726E-5C29-A3937A78B232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A093933-F9C6-8CFE-89C6-2F132C2AD13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32454929-C98E-8F6B-53E8-795B90F7CA5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1321759C-578E-151E-07C6-0A45C6753C16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34CAF82-1CBC-9427-F2F5-FA4A73C1917A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D98207C4-46BD-F847-1658-184D5CB92FB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44520F27-A14A-916A-2BA9-6838A510E8E7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7E8411FA-55B3-6055-3033-48846ECD78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0EFEE5-5A76-C4A5-88EE-82AE35D957E4}"/>
              </a:ext>
            </a:extLst>
          </p:cNvPr>
          <p:cNvSpPr txBox="1"/>
          <p:nvPr/>
        </p:nvSpPr>
        <p:spPr>
          <a:xfrm>
            <a:off x="6589165" y="1226631"/>
            <a:ext cx="44511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LISTINGS PAGE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06DE623-B9AD-E349-982B-7D6CAA8EC0CF}"/>
              </a:ext>
            </a:extLst>
          </p:cNvPr>
          <p:cNvSpPr txBox="1"/>
          <p:nvPr/>
        </p:nvSpPr>
        <p:spPr>
          <a:xfrm>
            <a:off x="3304081" y="7055740"/>
            <a:ext cx="139552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page displays available job opportunities with details like job title, company, skills, and salary.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allows users to search jobs and view detailed information before applying.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18F253-EA02-C5FE-98BD-EB5BC15019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6328" y="1872962"/>
            <a:ext cx="11090047" cy="4993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1867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5F6650-A943-C59C-FFEF-E35B35BB2DCC}"/>
              </a:ext>
            </a:extLst>
          </p:cNvPr>
          <p:cNvSpPr txBox="1"/>
          <p:nvPr/>
        </p:nvSpPr>
        <p:spPr>
          <a:xfrm>
            <a:off x="2667000" y="2018736"/>
            <a:ext cx="10035248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Reduces manual recruitment process and saves time.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Easy job search and application for users.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Employers can manage job postings and applicants efficiently.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Provides real-time application tracking and updates.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Centralized database ensures organized data management.</a:t>
            </a: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Requires internet and system availability.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Basic security (can be improved with advanced encryption).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Depends on server availability (Spring Boot/MySQL).</a:t>
            </a: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4587</TotalTime>
  <Words>1283</Words>
  <Application>Microsoft Office PowerPoint</Application>
  <PresentationFormat>Custom</PresentationFormat>
  <Paragraphs>334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Bookman Old Style</vt:lpstr>
      <vt:lpstr>Times New Roman</vt:lpstr>
      <vt:lpstr>Gotham Bold Italics</vt:lpstr>
      <vt:lpstr>Calibri</vt:lpstr>
      <vt:lpstr>Cambria</vt:lpstr>
      <vt:lpstr>Gotham</vt:lpstr>
      <vt:lpstr>Arial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Achukatlu Kaif</dc:creator>
  <cp:lastModifiedBy>Achukatlu Kaif</cp:lastModifiedBy>
  <cp:revision>72</cp:revision>
  <dcterms:created xsi:type="dcterms:W3CDTF">2006-08-16T00:00:00Z</dcterms:created>
  <dcterms:modified xsi:type="dcterms:W3CDTF">2026-04-22T04:19:19Z</dcterms:modified>
  <dc:identifier>DAHCaYqJ9OU</dc:identifier>
</cp:coreProperties>
</file>