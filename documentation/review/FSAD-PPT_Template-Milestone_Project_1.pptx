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67" r:id="rId12"/>
    <p:sldId id="268"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2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AUTOMATED QUIZ ENGINE WITH PDF CERTIFICATE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A.KAIF – VTU25108 – 23UECS0647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61527"/>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2400" dirty="0"/>
              <a:t>Dr. HEMAMALINI. S</a:t>
            </a:r>
            <a:r>
              <a:rPr lang="en-IN" sz="2800" dirty="0"/>
              <a:t>- B.Tech.,M.Tech.,</a:t>
            </a:r>
            <a:r>
              <a:rPr lang="en-IN" sz="2800" dirty="0" err="1"/>
              <a:t>Ph.D</a:t>
            </a:r>
            <a:r>
              <a:rPr lang="en-IN" sz="2800" dirty="0"/>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a:latin typeface="Cambria" panose="02040503050406030204" pitchFamily="18" charset="0"/>
                <a:ea typeface="Cambria" panose="02040503050406030204" pitchFamily="18" charset="0"/>
              </a:rPr>
              <a:t>SDG: SDG </a:t>
            </a:r>
            <a:r>
              <a:rPr lang="en-US" sz="2000" b="1" dirty="0">
                <a:latin typeface="Cambria" panose="02040503050406030204" pitchFamily="18" charset="0"/>
                <a:ea typeface="Cambria" panose="02040503050406030204" pitchFamily="18" charset="0"/>
              </a:rPr>
              <a:t>4 – </a:t>
            </a:r>
            <a:r>
              <a:rPr lang="en-US" sz="2000" b="1">
                <a:latin typeface="Cambria" panose="02040503050406030204" pitchFamily="18" charset="0"/>
                <a:ea typeface="Cambria" panose="02040503050406030204" pitchFamily="18" charset="0"/>
              </a:rPr>
              <a:t>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1510843"/>
          </a:xfrm>
          <a:prstGeom prst="rect">
            <a:avLst/>
          </a:prstGeom>
          <a:noFill/>
        </p:spPr>
        <p:txBody>
          <a:bodyPr wrap="square" rtlCol="0">
            <a:spAutoFit/>
          </a:bodyPr>
          <a:lstStyle/>
          <a:p>
            <a:pPr algn="just">
              <a:lnSpc>
                <a:spcPct val="150000"/>
              </a:lnSpc>
            </a:pPr>
            <a:r>
              <a:rPr lang="en-US" sz="2800" dirty="0"/>
              <a:t>The Automated Quiz Engine with PDF Certification Generation addresses the challenges in programming education where students lack proper assessment tools, interactive practice, and instant feedback. Traditional systems rely heavily on manual processes, making evaluation and progress tracking inefficient. This project is important as it automates quiz conduction, provides immediate results, and generates certificates to validate user skills. It has real-world relevance in online learning platforms, technical recruitment, and educational institutions. The system allows users to register, attempt quizzes, and receive instant evaluation. It also stores results for future analysis and performance tracking. Overall, it provides a simple, efficient, and scalable solution for modern assessment needs.</a:t>
            </a:r>
          </a:p>
          <a:p>
            <a:pPr marL="457200" indent="-457200">
              <a:buFontTx/>
              <a:buChar char="-"/>
            </a:pPr>
            <a:endParaRPr lang="en-US" sz="2800" dirty="0"/>
          </a:p>
          <a:p>
            <a:pPr marL="457200" indent="-457200">
              <a:buFontTx/>
              <a:buChar char="-"/>
            </a:pPr>
            <a:endParaRPr lang="en-US" sz="2800" dirty="0"/>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433625"/>
          </a:xfrm>
          <a:prstGeom prst="rect">
            <a:avLst/>
          </a:prstGeom>
          <a:noFill/>
        </p:spPr>
        <p:txBody>
          <a:bodyPr wrap="square" rtlCol="0">
            <a:spAutoFit/>
          </a:bodyPr>
          <a:lstStyle/>
          <a:p>
            <a:pPr marL="457200" indent="-457200">
              <a:buFont typeface="Arial" panose="020B0604020202020204" pitchFamily="34" charset="0"/>
              <a:buChar char="•"/>
            </a:pPr>
            <a:r>
              <a:rPr lang="en-US" sz="2800" dirty="0"/>
              <a:t>In current programming education systems, assessment and evaluation are often not fully automated and rely on manual processes. This leads to inefficiency in conducting quizzes, evaluating performance, and tracking student progress.</a:t>
            </a:r>
          </a:p>
          <a:p>
            <a:pPr marL="457200" indent="-457200">
              <a:buFontTx/>
              <a:buChar char="-"/>
            </a:pPr>
            <a:endParaRPr lang="en-US" sz="2800" dirty="0"/>
          </a:p>
          <a:p>
            <a:pPr marL="457200" indent="-457200">
              <a:buFont typeface="Arial" panose="020B0604020202020204" pitchFamily="34" charset="0"/>
              <a:buChar char="•"/>
            </a:pPr>
            <a:r>
              <a:rPr lang="en-US" sz="2800" dirty="0"/>
              <a:t>Students lack access to interactive platforms for practicing and receiving instant feedback, making it difficult to identify their strengths and weaknesses. Additionally, there is no simple and affordable way to generate certifications to validate their skills.</a:t>
            </a:r>
          </a:p>
          <a:p>
            <a:pPr marL="457200" indent="-457200">
              <a:buFontTx/>
              <a:buChar char="-"/>
            </a:pPr>
            <a:endParaRPr lang="en-US" sz="2800" dirty="0"/>
          </a:p>
          <a:p>
            <a:pPr marL="457200" indent="-457200">
              <a:buFont typeface="Arial" panose="020B0604020202020204" pitchFamily="34" charset="0"/>
              <a:buChar char="•"/>
            </a:pPr>
            <a:r>
              <a:rPr lang="en-US" sz="2800" dirty="0"/>
              <a:t>Therefore, there is a need for a reliable and automated system that can conduct quizzes, evaluate results instantly, and generate certificates while maintaining accuracy and efficiency.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547842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800" dirty="0"/>
              <a:t>To design and develop an Automated Quiz Engine with user authentication</a:t>
            </a:r>
          </a:p>
          <a:p>
            <a:pPr marL="457200" indent="-457200">
              <a:buFont typeface="Arial" panose="020B0604020202020204" pitchFamily="34" charset="0"/>
              <a:buChar char="•"/>
            </a:pPr>
            <a:r>
              <a:rPr lang="en-US" sz="2800" dirty="0"/>
              <a:t>To implement real-time quiz evaluation and scoring system</a:t>
            </a:r>
          </a:p>
          <a:p>
            <a:pPr marL="457200" indent="-457200">
              <a:buFont typeface="Arial" panose="020B0604020202020204" pitchFamily="34" charset="0"/>
              <a:buChar char="•"/>
            </a:pPr>
            <a:r>
              <a:rPr lang="en-US" sz="2800" dirty="0"/>
              <a:t>To improve learning through instant feedback and performance tracking</a:t>
            </a:r>
          </a:p>
          <a:p>
            <a:pPr marL="457200" indent="-457200">
              <a:buFont typeface="Arial" panose="020B0604020202020204" pitchFamily="34" charset="0"/>
              <a:buChar char="•"/>
            </a:pPr>
            <a:r>
              <a:rPr lang="en-US" sz="2800" dirty="0"/>
              <a:t>To generate PDF certificates for successful quiz completion</a:t>
            </a:r>
          </a:p>
          <a:p>
            <a:pPr marL="457200" indent="-457200">
              <a:buFont typeface="Arial" panose="020B0604020202020204" pitchFamily="34" charset="0"/>
              <a:buChar char="•"/>
            </a:pPr>
            <a:r>
              <a:rPr lang="en-US" sz="2800" dirty="0"/>
              <a:t>To evaluate performance of users using stored quiz results and scores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9140964"/>
          </a:xfrm>
          <a:prstGeom prst="rect">
            <a:avLst/>
          </a:prstGeom>
          <a:noFill/>
        </p:spPr>
        <p:txBody>
          <a:bodyPr wrap="square" rtlCol="0">
            <a:spAutoFit/>
          </a:bodyPr>
          <a:lstStyle/>
          <a:p>
            <a:pPr marL="914400" lvl="1" indent="-457200">
              <a:lnSpc>
                <a:spcPct val="200000"/>
              </a:lnSpc>
              <a:buFont typeface="Arial" panose="020B0604020202020204" pitchFamily="34" charset="0"/>
              <a:buChar char="•"/>
            </a:pPr>
            <a:r>
              <a:rPr lang="en-US" sz="2800" dirty="0"/>
              <a:t>A web-based Automated Quiz Engine that allows users to register, log in, and attempt quizzes</a:t>
            </a:r>
          </a:p>
          <a:p>
            <a:pPr marL="914400" lvl="1" indent="-457200">
              <a:buFont typeface="Arial" panose="020B0604020202020204" pitchFamily="34" charset="0"/>
              <a:buChar char="•"/>
            </a:pPr>
            <a:r>
              <a:rPr lang="en-US" sz="2800" dirty="0"/>
              <a:t>Fetches questions from a database and provides an interactive quiz interface</a:t>
            </a:r>
          </a:p>
          <a:p>
            <a:pPr marL="914400" lvl="1" indent="-457200">
              <a:buFont typeface="Arial" panose="020B0604020202020204" pitchFamily="34" charset="0"/>
              <a:buChar char="•"/>
            </a:pPr>
            <a:r>
              <a:rPr lang="en-US" sz="2800" dirty="0"/>
              <a:t>Implements instant evaluation and scoring after quiz submission</a:t>
            </a:r>
          </a:p>
          <a:p>
            <a:pPr marL="914400" lvl="1" indent="-457200">
              <a:buFont typeface="Arial" panose="020B0604020202020204" pitchFamily="34" charset="0"/>
              <a:buChar char="•"/>
            </a:pPr>
            <a:r>
              <a:rPr lang="en-US" sz="2800" dirty="0"/>
              <a:t>Generates PDF certificates automatically for users who pass the quiz</a:t>
            </a:r>
          </a:p>
          <a:p>
            <a:pPr marL="914400" lvl="1" indent="-457200">
              <a:buFont typeface="Arial" panose="020B0604020202020204" pitchFamily="34" charset="0"/>
              <a:buChar char="•"/>
            </a:pPr>
            <a:r>
              <a:rPr lang="en-US" sz="2800" dirty="0"/>
              <a:t>Stores user results to enable performance tracking and history viewing</a:t>
            </a:r>
          </a:p>
          <a:p>
            <a:pPr marL="914400" lvl="1" indent="-457200">
              <a:buFont typeface="Arial" panose="020B0604020202020204" pitchFamily="34" charset="0"/>
              <a:buChar char="•"/>
            </a:pPr>
            <a:r>
              <a:rPr lang="en-US" sz="2800" dirty="0"/>
              <a:t>Eliminates manual work by providing a fully automated assessment system</a:t>
            </a:r>
          </a:p>
          <a:p>
            <a:pPr marL="914400" lvl="1" indent="-457200">
              <a:buFont typeface="Arial" panose="020B0604020202020204" pitchFamily="34" charset="0"/>
              <a:buChar char="•"/>
            </a:pPr>
            <a:r>
              <a:rPr lang="en-US" sz="2800" dirty="0"/>
              <a:t>Provides quick feedback, helping users identify strengths and weaknesses</a:t>
            </a:r>
          </a:p>
          <a:p>
            <a:pPr marL="914400" lvl="1" indent="-457200">
              <a:buFont typeface="Arial" panose="020B0604020202020204" pitchFamily="34" charset="0"/>
              <a:buChar char="•"/>
            </a:pPr>
            <a:r>
              <a:rPr lang="en-US" sz="2800" dirty="0"/>
              <a:t>More efficient, scalable, and cost-effective compared to traditional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381000" y="7802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B45829A-9317-0F84-94CF-83B849A4CE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987111"/>
            <a:ext cx="12192000" cy="6890189"/>
          </a:xfrm>
          <a:prstGeom prst="rect">
            <a:avLst/>
          </a:prstGeom>
        </p:spPr>
      </p:pic>
      <p:grpSp>
        <p:nvGrpSpPr>
          <p:cNvPr id="37" name="Group 37"/>
          <p:cNvGrpSpPr/>
          <p:nvPr/>
        </p:nvGrpSpPr>
        <p:grpSpPr>
          <a:xfrm>
            <a:off x="12536768" y="267372"/>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EE30337-D5A8-EB3F-32BE-23C6D57FE0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0" y="2171700"/>
            <a:ext cx="12801600" cy="6934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368710" y="68347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0002738"/>
          </a:xfrm>
          <a:prstGeom prst="rect">
            <a:avLst/>
          </a:prstGeom>
          <a:noFill/>
        </p:spPr>
        <p:txBody>
          <a:bodyPr wrap="square" rtlCol="0">
            <a:spAutoFit/>
          </a:bodyPr>
          <a:lstStyle/>
          <a:p>
            <a:r>
              <a:rPr lang="en-US" sz="2800" b="1" dirty="0"/>
              <a:t>Frontend:</a:t>
            </a:r>
          </a:p>
          <a:p>
            <a:r>
              <a:rPr lang="en-US" sz="2800" dirty="0"/>
              <a:t>HTML, CSS, JavaScript</a:t>
            </a:r>
          </a:p>
          <a:p>
            <a:r>
              <a:rPr lang="en-US" sz="2800" b="1" dirty="0"/>
              <a:t>Backend:</a:t>
            </a:r>
          </a:p>
          <a:p>
            <a:r>
              <a:rPr lang="en-US" sz="2800" dirty="0"/>
              <a:t>Node.js, Express.js</a:t>
            </a:r>
          </a:p>
          <a:p>
            <a:r>
              <a:rPr lang="en-US" sz="2800" b="1" dirty="0"/>
              <a:t>Database</a:t>
            </a:r>
            <a:r>
              <a:rPr lang="en-US" sz="2800" dirty="0"/>
              <a:t>:</a:t>
            </a:r>
          </a:p>
          <a:p>
            <a:r>
              <a:rPr lang="en-US" sz="2800" dirty="0"/>
              <a:t>MySQL</a:t>
            </a:r>
          </a:p>
          <a:p>
            <a:r>
              <a:rPr lang="en-US" sz="2800" b="1" dirty="0"/>
              <a:t>Tools:</a:t>
            </a:r>
          </a:p>
          <a:p>
            <a:r>
              <a:rPr lang="en-US" sz="2800" dirty="0"/>
              <a:t>MySQL Workbench, VS Code, XAMPP, Web Browser</a:t>
            </a:r>
          </a:p>
          <a:p>
            <a:r>
              <a:rPr lang="en-US" sz="2800" b="1" dirty="0"/>
              <a:t>Hardware: </a:t>
            </a:r>
            <a:r>
              <a:rPr lang="en-US" sz="2800" dirty="0"/>
              <a:t>Computer/Laptop, Minimum 4GB RAM</a:t>
            </a:r>
          </a:p>
          <a:p>
            <a:r>
              <a:rPr lang="en-US" sz="2800" b="1" dirty="0"/>
              <a:t>Software: </a:t>
            </a:r>
            <a:r>
              <a:rPr lang="en-US" sz="2800" dirty="0"/>
              <a:t>Node.js, MySQL Server, Web Browser (Chrome)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6940127" y="-574307"/>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6986528"/>
          </a:xfrm>
          <a:prstGeom prst="rect">
            <a:avLst/>
          </a:prstGeom>
          <a:noFill/>
        </p:spPr>
        <p:txBody>
          <a:bodyPr wrap="square" rtlCol="0">
            <a:spAutoFit/>
          </a:bodyPr>
          <a:lstStyle/>
          <a:p>
            <a:endParaRPr lang="en-IN" sz="2800" b="1" dirty="0"/>
          </a:p>
          <a:p>
            <a:r>
              <a:rPr lang="en-IN" sz="2800" b="1" dirty="0"/>
              <a:t>Module 1: User Management</a:t>
            </a:r>
          </a:p>
          <a:p>
            <a:r>
              <a:rPr lang="en-IN" sz="2800" dirty="0"/>
              <a:t>Handles user registration, login, and profile management with secure authentication.</a:t>
            </a:r>
          </a:p>
          <a:p>
            <a:r>
              <a:rPr lang="en-IN" sz="2800" b="1" dirty="0"/>
              <a:t>Module 2: Core Processing</a:t>
            </a:r>
          </a:p>
          <a:p>
            <a:r>
              <a:rPr lang="en-IN" sz="2800" dirty="0"/>
              <a:t>Implements the main business logic and processes user inputs efficiently.</a:t>
            </a:r>
          </a:p>
          <a:p>
            <a:r>
              <a:rPr lang="en-IN" sz="2800" b="1" dirty="0"/>
              <a:t>Module 3: Database Management</a:t>
            </a:r>
          </a:p>
          <a:p>
            <a:r>
              <a:rPr lang="en-IN" sz="2800" dirty="0"/>
              <a:t>Manages data storage, retrieval, and ensures data integrity.</a:t>
            </a:r>
          </a:p>
          <a:p>
            <a:r>
              <a:rPr lang="en-IN" sz="2800" b="1" dirty="0"/>
              <a:t>Module 4: Reporting &amp; Analytics</a:t>
            </a:r>
          </a:p>
          <a:p>
            <a:r>
              <a:rPr lang="en-IN" sz="2800" dirty="0"/>
              <a:t>Generates reports and visual insights for better decision-making.</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225433" y="-201312"/>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194077784" y="-21344919"/>
            <a:ext cx="211685479" cy="440120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a:extLst>
              <a:ext uri="{FF2B5EF4-FFF2-40B4-BE49-F238E27FC236}">
                <a16:creationId xmlns:a16="http://schemas.microsoft.com/office/drawing/2014/main" id="{A2CA567C-A32B-E377-E00D-33788C7BF6ED}"/>
              </a:ext>
            </a:extLst>
          </p:cNvPr>
          <p:cNvSpPr>
            <a:spLocks noChangeAspect="1" noChangeArrowheads="1"/>
          </p:cNvSpPr>
          <p:nvPr/>
        </p:nvSpPr>
        <p:spPr bwMode="auto">
          <a:xfrm>
            <a:off x="5334000" y="1457511"/>
            <a:ext cx="4277970" cy="42779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AC67FFC5-0C38-9A19-E4D3-1882D797A58E}"/>
              </a:ext>
            </a:extLst>
          </p:cNvPr>
          <p:cNvSpPr>
            <a:spLocks noChangeAspect="1" noChangeArrowheads="1"/>
          </p:cNvSpPr>
          <p:nvPr/>
        </p:nvSpPr>
        <p:spPr bwMode="auto">
          <a:xfrm>
            <a:off x="5486400" y="1609911"/>
            <a:ext cx="4277970" cy="42779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a:extLst>
              <a:ext uri="{FF2B5EF4-FFF2-40B4-BE49-F238E27FC236}">
                <a16:creationId xmlns:a16="http://schemas.microsoft.com/office/drawing/2014/main" id="{A4F81F0B-2ADC-2543-08CB-83C6147B5FA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 name="Picture 50">
            <a:extLst>
              <a:ext uri="{FF2B5EF4-FFF2-40B4-BE49-F238E27FC236}">
                <a16:creationId xmlns:a16="http://schemas.microsoft.com/office/drawing/2014/main" id="{1B9F500D-734A-EE11-2EC2-FE8A0AAAB5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590675"/>
            <a:ext cx="12192000" cy="710565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151E503-B6D4-E675-30E9-3287E8F568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9800" y="1257253"/>
            <a:ext cx="6934200" cy="8648700"/>
          </a:xfrm>
          <a:prstGeom prst="rect">
            <a:avLst/>
          </a:prstGeom>
        </p:spPr>
      </p:pic>
      <p:pic>
        <p:nvPicPr>
          <p:cNvPr id="5" name="Picture 4">
            <a:extLst>
              <a:ext uri="{FF2B5EF4-FFF2-40B4-BE49-F238E27FC236}">
                <a16:creationId xmlns:a16="http://schemas.microsoft.com/office/drawing/2014/main" id="{57394263-AAD3-55FB-1AC7-93821FAB71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9599" y="1695376"/>
            <a:ext cx="6508011" cy="763912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C1F2847-5D24-3875-307A-E578D4A7B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3268" y="1466538"/>
            <a:ext cx="8624296" cy="7305675"/>
          </a:xfrm>
          <a:prstGeom prst="rect">
            <a:avLst/>
          </a:prstGeom>
        </p:spPr>
      </p:pic>
      <p:pic>
        <p:nvPicPr>
          <p:cNvPr id="38" name="Picture 37">
            <a:extLst>
              <a:ext uri="{FF2B5EF4-FFF2-40B4-BE49-F238E27FC236}">
                <a16:creationId xmlns:a16="http://schemas.microsoft.com/office/drawing/2014/main" id="{E232A2DC-0B4B-E46A-C423-81858F5D8F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2781" y="1476063"/>
            <a:ext cx="6013687" cy="729615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8915400" y="93324"/>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92F42C1-77B8-5874-BAB4-7B03840C3D2A}"/>
              </a:ext>
            </a:extLst>
          </p:cNvPr>
          <p:cNvSpPr txBox="1"/>
          <p:nvPr/>
        </p:nvSpPr>
        <p:spPr>
          <a:xfrm>
            <a:off x="2121109" y="1797683"/>
            <a:ext cx="14045782" cy="2739211"/>
          </a:xfrm>
          <a:prstGeom prst="rect">
            <a:avLst/>
          </a:prstGeom>
          <a:noFill/>
        </p:spPr>
        <p:txBody>
          <a:bodyPr wrap="square">
            <a:spAutoFit/>
          </a:bodyPr>
          <a:lstStyle/>
          <a:p>
            <a:r>
              <a:rPr lang="en-US" sz="3200" b="1" dirty="0">
                <a:solidFill>
                  <a:schemeClr val="tx1">
                    <a:lumMod val="95000"/>
                    <a:lumOff val="5000"/>
                  </a:schemeClr>
                </a:solidFill>
                <a:latin typeface="Times New Roman" panose="02020603050405020304" pitchFamily="18" charset="0"/>
                <a:cs typeface="Times New Roman" panose="02020603050405020304" pitchFamily="18" charset="0"/>
              </a:rPr>
              <a:t>ADVANTAGES: </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Provides automated quiz evaluation, saving time and effort</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Offers instant feedback to improve learning</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Generates PDF certificates for skill validation</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Easy to use with a simple and user-friendly interface</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Stores results for performance tracking and analysis</a:t>
            </a:r>
            <a:endParaRPr lang="en-IN" sz="2800" dirty="0">
              <a:solidFill>
                <a:schemeClr val="tx1">
                  <a:lumMod val="95000"/>
                  <a:lumOff val="5000"/>
                </a:schemeClr>
              </a:solidFill>
            </a:endParaRPr>
          </a:p>
        </p:txBody>
      </p:sp>
      <p:sp>
        <p:nvSpPr>
          <p:cNvPr id="34" name="TextBox 33">
            <a:extLst>
              <a:ext uri="{FF2B5EF4-FFF2-40B4-BE49-F238E27FC236}">
                <a16:creationId xmlns:a16="http://schemas.microsoft.com/office/drawing/2014/main" id="{364712C9-DA28-4331-2966-489E57F73B25}"/>
              </a:ext>
            </a:extLst>
          </p:cNvPr>
          <p:cNvSpPr txBox="1"/>
          <p:nvPr/>
        </p:nvSpPr>
        <p:spPr>
          <a:xfrm>
            <a:off x="2108618" y="4862879"/>
            <a:ext cx="14045782" cy="2246769"/>
          </a:xfrm>
          <a:prstGeom prst="rect">
            <a:avLst/>
          </a:prstGeom>
          <a:noFill/>
        </p:spPr>
        <p:txBody>
          <a:bodyPr wrap="square">
            <a:sp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LIMITATIONS: </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Requires internet/server availability to function</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Basic UI compared to advanced platforms</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No advanced analytics or AI-based evaluation</a:t>
            </a:r>
          </a:p>
          <a:p>
            <a:pPr marL="457200" indent="-457200">
              <a:buFont typeface="Arial" panose="020B0604020202020204" pitchFamily="34" charset="0"/>
              <a:buChar char="•"/>
            </a:pP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Security can be improved for large-scale deployment</a:t>
            </a:r>
            <a:endParaRPr lang="en-IN" sz="2800" dirty="0">
              <a:solidFill>
                <a:schemeClr val="tx1">
                  <a:lumMod val="95000"/>
                  <a:lumOff val="5000"/>
                </a:schemeClr>
              </a:solidFill>
            </a:endParaRP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1132</TotalTime>
  <Words>784</Words>
  <Application>Microsoft Office PowerPoint</Application>
  <PresentationFormat>Custom</PresentationFormat>
  <Paragraphs>273</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Gotham</vt:lpstr>
      <vt:lpstr>Bookman Old Style</vt:lpstr>
      <vt:lpstr>Arial</vt:lpstr>
      <vt:lpstr>Calibri</vt:lpstr>
      <vt:lpstr>Times New Roman</vt:lpstr>
      <vt:lpstr>Cambria</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Achukatlu Kaif</dc:creator>
  <cp:lastModifiedBy>Achukatlu Kaif</cp:lastModifiedBy>
  <cp:revision>12</cp:revision>
  <dcterms:created xsi:type="dcterms:W3CDTF">2006-08-16T00:00:00Z</dcterms:created>
  <dcterms:modified xsi:type="dcterms:W3CDTF">2026-03-25T02:29:39Z</dcterms:modified>
  <dc:identifier>DAHCaYqJ9OU</dc:identifier>
</cp:coreProperties>
</file>